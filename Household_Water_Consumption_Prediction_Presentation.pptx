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chivo Black" panose="020B0604020202020204" charset="0"/>
      <p:regular r:id="rId10"/>
    </p:embeddedFont>
    <p:embeddedFont>
      <p:font typeface="Book Antiqua" panose="02040602050305030304" pitchFamily="18" charset="0"/>
      <p:regular r:id="rId11"/>
      <p:bold r:id="rId12"/>
      <p:italic r:id="rId13"/>
      <p:boldItalic r:id="rId14"/>
    </p:embeddedFont>
    <p:embeddedFont>
      <p:font typeface="Boston Angel Bold" panose="020B0604020202020204" charset="0"/>
      <p:regular r:id="rId15"/>
    </p:embeddedFont>
    <p:embeddedFont>
      <p:font typeface="Canva Sans Bold" panose="020B0604020202020204" charset="0"/>
      <p:regular r:id="rId16"/>
    </p:embeddedFont>
    <p:embeddedFont>
      <p:font typeface="Canva Sans Bold Italics" panose="020B0604020202020204" charset="0"/>
      <p:regular r:id="rId17"/>
    </p:embeddedFont>
    <p:embeddedFont>
      <p:font typeface="DM Sans" pitchFamily="2" charset="0"/>
      <p:regular r:id="rId18"/>
    </p:embeddedFont>
    <p:embeddedFont>
      <p:font typeface="DM Sans Bold" panose="020B0604020202020204" charset="0"/>
      <p:regular r:id="rId19"/>
    </p:embeddedFont>
    <p:embeddedFont>
      <p:font typeface="DM Sans Bold Italics" panose="020B0604020202020204" charset="0"/>
      <p:regular r:id="rId20"/>
    </p:embeddedFont>
    <p:embeddedFont>
      <p:font typeface="DM Sans Italics" panose="020B0604020202020204" charset="0"/>
      <p:regular r:id="rId21"/>
    </p:embeddedFont>
    <p:embeddedFont>
      <p:font typeface="League Spartan" panose="020B0604020202020204" charset="0"/>
      <p:regular r:id="rId22"/>
    </p:embeddedFont>
    <p:embeddedFont>
      <p:font typeface="Proxima Nova" panose="020B0604020202020204" charset="0"/>
      <p:regular r:id="rId23"/>
    </p:embeddedFont>
    <p:embeddedFont>
      <p:font typeface="Proxima Nova Bold" panose="020B0604020202020204" charset="0"/>
      <p:regular r:id="rId24"/>
    </p:embeddedFont>
    <p:embeddedFont>
      <p:font typeface="Proxima Nova Italics" panose="020B0604020202020204" charset="0"/>
      <p:regular r:id="rId25"/>
    </p:embeddedFont>
    <p:embeddedFont>
      <p:font typeface="Roca One Bold" panose="020B0604020202020204" charset="0"/>
      <p:regular r:id="rId26"/>
    </p:embeddedFont>
    <p:embeddedFont>
      <p:font typeface="Roca One Bold Italics" panose="020B0604020202020204" charset="0"/>
      <p:regular r:id="rId27"/>
    </p:embeddedFont>
    <p:embeddedFont>
      <p:font typeface="Roca One Heavy" panose="020B0604020202020204" charset="0"/>
      <p:regular r:id="rId28"/>
    </p:embeddedFont>
    <p:embeddedFont>
      <p:font typeface="Times New Roman MT 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font" Target="fonts/font19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font" Target="fonts/font1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6.svg"/><Relationship Id="rId7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24.svg"/><Relationship Id="rId5" Type="http://schemas.openxmlformats.org/officeDocument/2006/relationships/image" Target="../media/image20.png"/><Relationship Id="rId10" Type="http://schemas.openxmlformats.org/officeDocument/2006/relationships/image" Target="../media/image23.svg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1939" y="9351764"/>
            <a:ext cx="1236666" cy="654995"/>
          </a:xfrm>
          <a:custGeom>
            <a:avLst/>
            <a:gdLst/>
            <a:ahLst/>
            <a:cxnLst/>
            <a:rect l="l" t="t" r="r" b="b"/>
            <a:pathLst>
              <a:path w="1236666" h="654995">
                <a:moveTo>
                  <a:pt x="0" y="0"/>
                </a:moveTo>
                <a:lnTo>
                  <a:pt x="1236666" y="0"/>
                </a:lnTo>
                <a:lnTo>
                  <a:pt x="1236666" y="654995"/>
                </a:lnTo>
                <a:lnTo>
                  <a:pt x="0" y="654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6058" b="-12324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28675"/>
            <a:ext cx="15080577" cy="6689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10"/>
              </a:lnSpc>
            </a:pPr>
            <a:r>
              <a:rPr lang="en-US" sz="10085" b="1">
                <a:solidFill>
                  <a:srgbClr val="FFFFFF"/>
                </a:solidFill>
                <a:latin typeface="Boston Angel Bold"/>
                <a:ea typeface="Boston Angel Bold"/>
                <a:cs typeface="Boston Angel Bold"/>
                <a:sym typeface="Boston Angel Bold"/>
              </a:rPr>
              <a:t>HOUSEHOLD WATER CONSUMPTION PREDICTION</a:t>
            </a:r>
          </a:p>
          <a:p>
            <a:pPr algn="l">
              <a:lnSpc>
                <a:spcPts val="13110"/>
              </a:lnSpc>
            </a:pPr>
            <a:endParaRPr lang="en-US" sz="10085" b="1">
              <a:solidFill>
                <a:srgbClr val="FFFFFF"/>
              </a:solidFill>
              <a:latin typeface="Boston Angel Bold"/>
              <a:ea typeface="Boston Angel Bold"/>
              <a:cs typeface="Boston Angel Bold"/>
              <a:sym typeface="Boston Angel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1839357" y="3385628"/>
            <a:ext cx="6448643" cy="6901372"/>
            <a:chOff x="0" y="0"/>
            <a:chExt cx="6257010" cy="6696285"/>
          </a:xfrm>
        </p:grpSpPr>
        <p:sp>
          <p:nvSpPr>
            <p:cNvPr id="6" name="Freeform 6"/>
            <p:cNvSpPr/>
            <p:nvPr/>
          </p:nvSpPr>
          <p:spPr>
            <a:xfrm>
              <a:off x="23" y="61"/>
              <a:ext cx="6256987" cy="6696225"/>
            </a:xfrm>
            <a:custGeom>
              <a:avLst/>
              <a:gdLst/>
              <a:ahLst/>
              <a:cxnLst/>
              <a:rect l="l" t="t" r="r" b="b"/>
              <a:pathLst>
                <a:path w="6256987" h="6696225">
                  <a:moveTo>
                    <a:pt x="5971618" y="655513"/>
                  </a:moveTo>
                  <a:cubicBezTo>
                    <a:pt x="6128589" y="689676"/>
                    <a:pt x="6256987" y="849061"/>
                    <a:pt x="6256987" y="1009716"/>
                  </a:cubicBezTo>
                  <a:lnTo>
                    <a:pt x="6256987" y="6404124"/>
                  </a:lnTo>
                  <a:cubicBezTo>
                    <a:pt x="6256987" y="6564779"/>
                    <a:pt x="6125541" y="6696225"/>
                    <a:pt x="5964887" y="6696225"/>
                  </a:cubicBezTo>
                  <a:lnTo>
                    <a:pt x="209019" y="6696225"/>
                  </a:lnTo>
                  <a:cubicBezTo>
                    <a:pt x="48364" y="6696225"/>
                    <a:pt x="-38250" y="6572653"/>
                    <a:pt x="16360" y="6421650"/>
                  </a:cubicBezTo>
                  <a:lnTo>
                    <a:pt x="2117829" y="219395"/>
                  </a:lnTo>
                  <a:cubicBezTo>
                    <a:pt x="2172566" y="68392"/>
                    <a:pt x="2345794" y="-27239"/>
                    <a:pt x="2502766" y="6924"/>
                  </a:cubicBezTo>
                  <a:lnTo>
                    <a:pt x="5971618" y="655513"/>
                  </a:lnTo>
                  <a:close/>
                </a:path>
              </a:pathLst>
            </a:custGeom>
            <a:blipFill>
              <a:blip r:embed="rId4"/>
              <a:stretch>
                <a:fillRect t="-20016" b="-20016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8700" y="7489552"/>
            <a:ext cx="10350927" cy="1635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6"/>
              </a:lnSpc>
            </a:pPr>
            <a:r>
              <a:rPr lang="en-US" sz="335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Presented by:</a:t>
            </a:r>
          </a:p>
          <a:p>
            <a:pPr algn="l">
              <a:lnSpc>
                <a:spcPts val="4366"/>
              </a:lnSpc>
            </a:pPr>
            <a:r>
              <a:rPr lang="en-US" sz="335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Yuti Parmar : SDDS059A</a:t>
            </a:r>
          </a:p>
          <a:p>
            <a:pPr algn="l">
              <a:lnSpc>
                <a:spcPts val="4366"/>
              </a:lnSpc>
            </a:pPr>
            <a:r>
              <a:rPr lang="en-US" sz="335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Esha Rasam : SDDS067A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851320" y="1028700"/>
            <a:ext cx="9288850" cy="6265960"/>
            <a:chOff x="0" y="0"/>
            <a:chExt cx="2446446" cy="16502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6446" cy="1650294"/>
            </a:xfrm>
            <a:custGeom>
              <a:avLst/>
              <a:gdLst/>
              <a:ahLst/>
              <a:cxnLst/>
              <a:rect l="l" t="t" r="r" b="b"/>
              <a:pathLst>
                <a:path w="2446446" h="1650294">
                  <a:moveTo>
                    <a:pt x="0" y="0"/>
                  </a:moveTo>
                  <a:lnTo>
                    <a:pt x="2446446" y="0"/>
                  </a:lnTo>
                  <a:lnTo>
                    <a:pt x="2446446" y="1650294"/>
                  </a:lnTo>
                  <a:lnTo>
                    <a:pt x="0" y="1650294"/>
                  </a:lnTo>
                  <a:close/>
                </a:path>
              </a:pathLst>
            </a:custGeom>
            <a:solidFill>
              <a:srgbClr val="14141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46446" cy="1688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419334" y="1028700"/>
            <a:ext cx="9549386" cy="5978372"/>
            <a:chOff x="0" y="0"/>
            <a:chExt cx="1165331" cy="7295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65331" cy="729553"/>
            </a:xfrm>
            <a:custGeom>
              <a:avLst/>
              <a:gdLst/>
              <a:ahLst/>
              <a:cxnLst/>
              <a:rect l="l" t="t" r="r" b="b"/>
              <a:pathLst>
                <a:path w="1165331" h="729553">
                  <a:moveTo>
                    <a:pt x="0" y="0"/>
                  </a:moveTo>
                  <a:lnTo>
                    <a:pt x="1165331" y="0"/>
                  </a:lnTo>
                  <a:lnTo>
                    <a:pt x="1165331" y="729553"/>
                  </a:lnTo>
                  <a:lnTo>
                    <a:pt x="0" y="729553"/>
                  </a:lnTo>
                  <a:close/>
                </a:path>
              </a:pathLst>
            </a:custGeom>
            <a:blipFill>
              <a:blip r:embed="rId3"/>
              <a:stretch>
                <a:fillRect l="-957" t="-1820" r="-957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20294" y="1714148"/>
            <a:ext cx="8173737" cy="558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6409" lvl="1" indent="-288205" algn="l">
              <a:lnSpc>
                <a:spcPts val="3737"/>
              </a:lnSpc>
              <a:buFont typeface="Arial"/>
              <a:buChar char="•"/>
            </a:pPr>
            <a:r>
              <a:rPr lang="en-US" sz="266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Water consumption varies between households depending on different conditions.</a:t>
            </a:r>
          </a:p>
          <a:p>
            <a:pPr marL="576409" lvl="1" indent="-288205" algn="l">
              <a:lnSpc>
                <a:spcPts val="3737"/>
              </a:lnSpc>
              <a:buFont typeface="Arial"/>
              <a:buChar char="•"/>
            </a:pPr>
            <a:r>
              <a:rPr lang="en-US" sz="266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Factors such as number of residents, temperature, humidity, guests and appliance usage can affect water usage.</a:t>
            </a:r>
          </a:p>
          <a:p>
            <a:pPr marL="576409" lvl="1" indent="-288205" algn="l">
              <a:lnSpc>
                <a:spcPts val="3737"/>
              </a:lnSpc>
              <a:buFont typeface="Arial"/>
              <a:buChar char="•"/>
            </a:pPr>
            <a:r>
              <a:rPr lang="en-US" sz="266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Many households do not track how much water they consume each day, which can lead to unnecessary usage and wastage. </a:t>
            </a:r>
          </a:p>
          <a:p>
            <a:pPr marL="576409" lvl="1" indent="-288205" algn="l">
              <a:lnSpc>
                <a:spcPts val="3737"/>
              </a:lnSpc>
              <a:buFont typeface="Arial"/>
              <a:buChar char="•"/>
            </a:pPr>
            <a:r>
              <a:rPr lang="en-US" sz="266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Machine learning can identify patterns in historical household data and use them for prediction.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64963" y="205491"/>
            <a:ext cx="95770" cy="1048256"/>
            <a:chOff x="0" y="0"/>
            <a:chExt cx="44772" cy="4900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772" cy="490060"/>
            </a:xfrm>
            <a:custGeom>
              <a:avLst/>
              <a:gdLst/>
              <a:ahLst/>
              <a:cxnLst/>
              <a:rect l="l" t="t" r="r" b="b"/>
              <a:pathLst>
                <a:path w="44772" h="490060">
                  <a:moveTo>
                    <a:pt x="0" y="0"/>
                  </a:moveTo>
                  <a:lnTo>
                    <a:pt x="44772" y="0"/>
                  </a:lnTo>
                  <a:lnTo>
                    <a:pt x="44772" y="490060"/>
                  </a:lnTo>
                  <a:lnTo>
                    <a:pt x="0" y="490060"/>
                  </a:lnTo>
                  <a:close/>
                </a:path>
              </a:pathLst>
            </a:custGeom>
            <a:solidFill>
              <a:srgbClr val="082E6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4772" cy="528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60733" y="205491"/>
            <a:ext cx="5896482" cy="1048256"/>
            <a:chOff x="0" y="0"/>
            <a:chExt cx="2756605" cy="4900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56605" cy="490060"/>
            </a:xfrm>
            <a:custGeom>
              <a:avLst/>
              <a:gdLst/>
              <a:ahLst/>
              <a:cxnLst/>
              <a:rect l="l" t="t" r="r" b="b"/>
              <a:pathLst>
                <a:path w="2756605" h="490060">
                  <a:moveTo>
                    <a:pt x="0" y="0"/>
                  </a:moveTo>
                  <a:lnTo>
                    <a:pt x="2756605" y="0"/>
                  </a:lnTo>
                  <a:lnTo>
                    <a:pt x="2756605" y="490060"/>
                  </a:lnTo>
                  <a:lnTo>
                    <a:pt x="0" y="490060"/>
                  </a:lnTo>
                  <a:close/>
                </a:path>
              </a:pathLst>
            </a:custGeom>
            <a:gradFill rotWithShape="1">
              <a:gsLst>
                <a:gs pos="0">
                  <a:srgbClr val="C4C4C4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756605" cy="528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30210" y="220007"/>
            <a:ext cx="7889125" cy="812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7"/>
              </a:lnSpc>
            </a:pPr>
            <a:r>
              <a:rPr lang="en-US" sz="4997">
                <a:solidFill>
                  <a:srgbClr val="082E61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INTRODUCTION</a:t>
            </a:r>
          </a:p>
        </p:txBody>
      </p:sp>
      <p:sp>
        <p:nvSpPr>
          <p:cNvPr id="16" name="Freeform 16"/>
          <p:cNvSpPr/>
          <p:nvPr/>
        </p:nvSpPr>
        <p:spPr>
          <a:xfrm>
            <a:off x="120294" y="9524186"/>
            <a:ext cx="1236666" cy="654995"/>
          </a:xfrm>
          <a:custGeom>
            <a:avLst/>
            <a:gdLst/>
            <a:ahLst/>
            <a:cxnLst/>
            <a:rect l="l" t="t" r="r" b="b"/>
            <a:pathLst>
              <a:path w="1236666" h="654995">
                <a:moveTo>
                  <a:pt x="0" y="0"/>
                </a:moveTo>
                <a:lnTo>
                  <a:pt x="1236666" y="0"/>
                </a:lnTo>
                <a:lnTo>
                  <a:pt x="1236666" y="654995"/>
                </a:lnTo>
                <a:lnTo>
                  <a:pt x="0" y="654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16058" b="-123249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092104" y="0"/>
            <a:ext cx="1236666" cy="654995"/>
          </a:xfrm>
          <a:custGeom>
            <a:avLst/>
            <a:gdLst/>
            <a:ahLst/>
            <a:cxnLst/>
            <a:rect l="l" t="t" r="r" b="b"/>
            <a:pathLst>
              <a:path w="1236666" h="654995">
                <a:moveTo>
                  <a:pt x="0" y="0"/>
                </a:moveTo>
                <a:lnTo>
                  <a:pt x="1236666" y="0"/>
                </a:lnTo>
                <a:lnTo>
                  <a:pt x="1236666" y="654995"/>
                </a:lnTo>
                <a:lnTo>
                  <a:pt x="0" y="654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16058" b="-123249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513809" y="7637560"/>
            <a:ext cx="8454911" cy="46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7"/>
              </a:lnSpc>
            </a:pPr>
            <a:r>
              <a:rPr lang="en-US" sz="2898">
                <a:solidFill>
                  <a:srgbClr val="F8F7F6"/>
                </a:solidFill>
                <a:latin typeface="Archivo Black"/>
                <a:ea typeface="Archivo Black"/>
                <a:cs typeface="Archivo Black"/>
                <a:sym typeface="Archivo Black"/>
              </a:rPr>
              <a:t>WATER CONSUMPTION DISTRIBUTION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8627" y="7599460"/>
            <a:ext cx="10348044" cy="2159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lang="en-US" sz="308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PROBLEM STATEMENT</a:t>
            </a:r>
          </a:p>
          <a:p>
            <a:pPr algn="l">
              <a:lnSpc>
                <a:spcPts val="4324"/>
              </a:lnSpc>
            </a:pPr>
            <a:r>
              <a:rPr lang="en-US" sz="3089" i="1">
                <a:solidFill>
                  <a:srgbClr val="FFFFFF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To predict household water consumption using household, environmental and time-related factors through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1405" y="9505139"/>
            <a:ext cx="1236666" cy="654995"/>
          </a:xfrm>
          <a:custGeom>
            <a:avLst/>
            <a:gdLst/>
            <a:ahLst/>
            <a:cxnLst/>
            <a:rect l="l" t="t" r="r" b="b"/>
            <a:pathLst>
              <a:path w="1236666" h="654995">
                <a:moveTo>
                  <a:pt x="0" y="0"/>
                </a:moveTo>
                <a:lnTo>
                  <a:pt x="1236666" y="0"/>
                </a:lnTo>
                <a:lnTo>
                  <a:pt x="1236666" y="654996"/>
                </a:lnTo>
                <a:lnTo>
                  <a:pt x="0" y="654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6058" b="-12324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21706" y="6389212"/>
            <a:ext cx="17328464" cy="2641740"/>
          </a:xfrm>
          <a:custGeom>
            <a:avLst/>
            <a:gdLst/>
            <a:ahLst/>
            <a:cxnLst/>
            <a:rect l="l" t="t" r="r" b="b"/>
            <a:pathLst>
              <a:path w="17328464" h="2641740">
                <a:moveTo>
                  <a:pt x="0" y="0"/>
                </a:moveTo>
                <a:lnTo>
                  <a:pt x="17328464" y="0"/>
                </a:lnTo>
                <a:lnTo>
                  <a:pt x="17328464" y="2641740"/>
                </a:lnTo>
                <a:lnTo>
                  <a:pt x="0" y="2641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75" r="-3826" b="-675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7365474" y="1608150"/>
            <a:ext cx="10378645" cy="4203004"/>
          </a:xfrm>
          <a:custGeom>
            <a:avLst/>
            <a:gdLst/>
            <a:ahLst/>
            <a:cxnLst/>
            <a:rect l="l" t="t" r="r" b="b"/>
            <a:pathLst>
              <a:path w="10378645" h="4203004">
                <a:moveTo>
                  <a:pt x="0" y="0"/>
                </a:moveTo>
                <a:lnTo>
                  <a:pt x="10378645" y="0"/>
                </a:lnTo>
                <a:lnTo>
                  <a:pt x="10378645" y="4203004"/>
                </a:lnTo>
                <a:lnTo>
                  <a:pt x="0" y="42030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03770" y="9243584"/>
            <a:ext cx="10784681" cy="58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2"/>
              </a:lnSpc>
              <a:spcBef>
                <a:spcPct val="0"/>
              </a:spcBef>
            </a:pPr>
            <a:r>
              <a:rPr lang="en-US" sz="3058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Dataset Source: Kaggle — Household Water Consumption Dataset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03" y="1312440"/>
            <a:ext cx="8796110" cy="4602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9"/>
              </a:lnSpc>
              <a:spcBef>
                <a:spcPct val="0"/>
              </a:spcBef>
            </a:pPr>
            <a:endParaRPr/>
          </a:p>
          <a:p>
            <a:pPr marL="630615" lvl="1" indent="-315308" algn="l">
              <a:lnSpc>
                <a:spcPts val="4089"/>
              </a:lnSpc>
              <a:spcBef>
                <a:spcPct val="0"/>
              </a:spcBef>
              <a:buFont typeface="Arial"/>
              <a:buChar char="•"/>
            </a:pPr>
            <a:r>
              <a:rPr lang="en-US" sz="292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Dataset Type: Household Water Consumption Dataset</a:t>
            </a:r>
          </a:p>
          <a:p>
            <a:pPr marL="630615" lvl="1" indent="-315308" algn="l">
              <a:lnSpc>
                <a:spcPts val="4089"/>
              </a:lnSpc>
              <a:spcBef>
                <a:spcPct val="0"/>
              </a:spcBef>
              <a:buFont typeface="Arial"/>
              <a:buChar char="•"/>
            </a:pPr>
            <a:r>
              <a:rPr lang="en-US" sz="292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Total Records: 14,000</a:t>
            </a:r>
          </a:p>
          <a:p>
            <a:pPr marL="630615" lvl="1" indent="-315308" algn="l">
              <a:lnSpc>
                <a:spcPts val="4089"/>
              </a:lnSpc>
              <a:spcBef>
                <a:spcPct val="0"/>
              </a:spcBef>
              <a:buFont typeface="Arial"/>
              <a:buChar char="•"/>
            </a:pPr>
            <a:r>
              <a:rPr lang="en-US" sz="292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Input Features: 14</a:t>
            </a:r>
          </a:p>
          <a:p>
            <a:pPr marL="630615" lvl="1" indent="-315308" algn="l">
              <a:lnSpc>
                <a:spcPts val="4089"/>
              </a:lnSpc>
              <a:spcBef>
                <a:spcPct val="0"/>
              </a:spcBef>
              <a:buFont typeface="Arial"/>
              <a:buChar char="•"/>
            </a:pPr>
            <a:r>
              <a:rPr lang="en-US" sz="292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Target Variable: Water_Consumption</a:t>
            </a:r>
          </a:p>
          <a:p>
            <a:pPr marL="630615" lvl="1" indent="-315308" algn="l">
              <a:lnSpc>
                <a:spcPts val="4089"/>
              </a:lnSpc>
              <a:spcBef>
                <a:spcPct val="0"/>
              </a:spcBef>
              <a:buFont typeface="Arial"/>
              <a:buChar char="•"/>
            </a:pPr>
            <a:r>
              <a:rPr lang="en-US" sz="292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Training Data: 11,200 records (80%)</a:t>
            </a:r>
          </a:p>
          <a:p>
            <a:pPr marL="630615" lvl="1" indent="-315308" algn="l">
              <a:lnSpc>
                <a:spcPts val="4089"/>
              </a:lnSpc>
              <a:spcBef>
                <a:spcPct val="0"/>
              </a:spcBef>
              <a:buFont typeface="Arial"/>
              <a:buChar char="•"/>
            </a:pPr>
            <a:r>
              <a:rPr lang="en-US" sz="292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Testing Data: 2,800 records (20%)</a:t>
            </a:r>
          </a:p>
          <a:p>
            <a:pPr algn="l">
              <a:lnSpc>
                <a:spcPts val="4089"/>
              </a:lnSpc>
              <a:spcBef>
                <a:spcPct val="0"/>
              </a:spcBef>
            </a:pPr>
            <a:endParaRPr lang="en-US" sz="2920" b="1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264963" y="205491"/>
            <a:ext cx="113485" cy="1242160"/>
            <a:chOff x="0" y="0"/>
            <a:chExt cx="44772" cy="4900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772" cy="490060"/>
            </a:xfrm>
            <a:custGeom>
              <a:avLst/>
              <a:gdLst/>
              <a:ahLst/>
              <a:cxnLst/>
              <a:rect l="l" t="t" r="r" b="b"/>
              <a:pathLst>
                <a:path w="44772" h="490060">
                  <a:moveTo>
                    <a:pt x="0" y="0"/>
                  </a:moveTo>
                  <a:lnTo>
                    <a:pt x="44772" y="0"/>
                  </a:lnTo>
                  <a:lnTo>
                    <a:pt x="44772" y="490060"/>
                  </a:lnTo>
                  <a:lnTo>
                    <a:pt x="0" y="490060"/>
                  </a:lnTo>
                  <a:close/>
                </a:path>
              </a:pathLst>
            </a:custGeom>
            <a:solidFill>
              <a:srgbClr val="082E6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4772" cy="528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78448" y="205491"/>
            <a:ext cx="8417662" cy="1242160"/>
            <a:chOff x="0" y="0"/>
            <a:chExt cx="3320954" cy="4900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320953" cy="490060"/>
            </a:xfrm>
            <a:custGeom>
              <a:avLst/>
              <a:gdLst/>
              <a:ahLst/>
              <a:cxnLst/>
              <a:rect l="l" t="t" r="r" b="b"/>
              <a:pathLst>
                <a:path w="3320953" h="490060">
                  <a:moveTo>
                    <a:pt x="0" y="0"/>
                  </a:moveTo>
                  <a:lnTo>
                    <a:pt x="3320953" y="0"/>
                  </a:lnTo>
                  <a:lnTo>
                    <a:pt x="3320953" y="490060"/>
                  </a:lnTo>
                  <a:lnTo>
                    <a:pt x="0" y="490060"/>
                  </a:lnTo>
                  <a:close/>
                </a:path>
              </a:pathLst>
            </a:custGeom>
            <a:gradFill rotWithShape="1">
              <a:gsLst>
                <a:gs pos="0">
                  <a:srgbClr val="C4C4C4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320954" cy="528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49938" y="324912"/>
            <a:ext cx="7784461" cy="9126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46"/>
              </a:lnSpc>
              <a:spcBef>
                <a:spcPct val="0"/>
              </a:spcBef>
            </a:pPr>
            <a:r>
              <a:rPr lang="en-US" sz="5319" dirty="0">
                <a:solidFill>
                  <a:srgbClr val="082E6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Dataset &amp;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422283" y="373705"/>
            <a:ext cx="1236666" cy="654995"/>
          </a:xfrm>
          <a:custGeom>
            <a:avLst/>
            <a:gdLst/>
            <a:ahLst/>
            <a:cxnLst/>
            <a:rect l="l" t="t" r="r" b="b"/>
            <a:pathLst>
              <a:path w="1236666" h="654995">
                <a:moveTo>
                  <a:pt x="0" y="0"/>
                </a:moveTo>
                <a:lnTo>
                  <a:pt x="1236666" y="0"/>
                </a:lnTo>
                <a:lnTo>
                  <a:pt x="1236666" y="654995"/>
                </a:lnTo>
                <a:lnTo>
                  <a:pt x="0" y="654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6058" b="-12324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9692" y="9458325"/>
            <a:ext cx="1236666" cy="654995"/>
          </a:xfrm>
          <a:custGeom>
            <a:avLst/>
            <a:gdLst/>
            <a:ahLst/>
            <a:cxnLst/>
            <a:rect l="l" t="t" r="r" b="b"/>
            <a:pathLst>
              <a:path w="1236666" h="654995">
                <a:moveTo>
                  <a:pt x="0" y="0"/>
                </a:moveTo>
                <a:lnTo>
                  <a:pt x="1236666" y="0"/>
                </a:lnTo>
                <a:lnTo>
                  <a:pt x="1236666" y="654995"/>
                </a:lnTo>
                <a:lnTo>
                  <a:pt x="0" y="654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6058" b="-123249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923260" y="373705"/>
            <a:ext cx="1236666" cy="654995"/>
          </a:xfrm>
          <a:custGeom>
            <a:avLst/>
            <a:gdLst/>
            <a:ahLst/>
            <a:cxnLst/>
            <a:rect l="l" t="t" r="r" b="b"/>
            <a:pathLst>
              <a:path w="1236666" h="654995">
                <a:moveTo>
                  <a:pt x="0" y="0"/>
                </a:moveTo>
                <a:lnTo>
                  <a:pt x="1236666" y="0"/>
                </a:lnTo>
                <a:lnTo>
                  <a:pt x="1236666" y="654995"/>
                </a:lnTo>
                <a:lnTo>
                  <a:pt x="0" y="654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6058" b="-123249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64963" y="205491"/>
            <a:ext cx="177238" cy="1514479"/>
            <a:chOff x="0" y="0"/>
            <a:chExt cx="57351" cy="4900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351" cy="490060"/>
            </a:xfrm>
            <a:custGeom>
              <a:avLst/>
              <a:gdLst/>
              <a:ahLst/>
              <a:cxnLst/>
              <a:rect l="l" t="t" r="r" b="b"/>
              <a:pathLst>
                <a:path w="57351" h="490060">
                  <a:moveTo>
                    <a:pt x="0" y="0"/>
                  </a:moveTo>
                  <a:lnTo>
                    <a:pt x="57351" y="0"/>
                  </a:lnTo>
                  <a:lnTo>
                    <a:pt x="57351" y="490060"/>
                  </a:lnTo>
                  <a:lnTo>
                    <a:pt x="0" y="490060"/>
                  </a:lnTo>
                  <a:close/>
                </a:path>
              </a:pathLst>
            </a:custGeom>
            <a:solidFill>
              <a:srgbClr val="082E6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7351" cy="528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2201" y="205491"/>
            <a:ext cx="10912439" cy="1514479"/>
            <a:chOff x="0" y="0"/>
            <a:chExt cx="3531081" cy="4900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31081" cy="490060"/>
            </a:xfrm>
            <a:custGeom>
              <a:avLst/>
              <a:gdLst/>
              <a:ahLst/>
              <a:cxnLst/>
              <a:rect l="l" t="t" r="r" b="b"/>
              <a:pathLst>
                <a:path w="3531081" h="490060">
                  <a:moveTo>
                    <a:pt x="0" y="0"/>
                  </a:moveTo>
                  <a:lnTo>
                    <a:pt x="3531081" y="0"/>
                  </a:lnTo>
                  <a:lnTo>
                    <a:pt x="3531081" y="490060"/>
                  </a:lnTo>
                  <a:lnTo>
                    <a:pt x="0" y="490060"/>
                  </a:lnTo>
                  <a:close/>
                </a:path>
              </a:pathLst>
            </a:custGeom>
            <a:gradFill rotWithShape="1">
              <a:gsLst>
                <a:gs pos="0">
                  <a:srgbClr val="C4C4C4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531081" cy="528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384004" y="0"/>
            <a:ext cx="4899422" cy="5153360"/>
            <a:chOff x="0" y="0"/>
            <a:chExt cx="5832279" cy="613456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832279" cy="6134567"/>
            </a:xfrm>
            <a:custGeom>
              <a:avLst/>
              <a:gdLst/>
              <a:ahLst/>
              <a:cxnLst/>
              <a:rect l="l" t="t" r="r" b="b"/>
              <a:pathLst>
                <a:path w="5832279" h="6134567">
                  <a:moveTo>
                    <a:pt x="5832279" y="34844"/>
                  </a:moveTo>
                  <a:lnTo>
                    <a:pt x="5832279" y="6134567"/>
                  </a:lnTo>
                  <a:lnTo>
                    <a:pt x="0" y="5489701"/>
                  </a:lnTo>
                  <a:lnTo>
                    <a:pt x="0" y="0"/>
                  </a:lnTo>
                  <a:lnTo>
                    <a:pt x="5832279" y="34844"/>
                  </a:lnTo>
                  <a:close/>
                </a:path>
              </a:pathLst>
            </a:custGeom>
            <a:blipFill>
              <a:blip r:embed="rId4"/>
              <a:stretch>
                <a:fillRect l="-26986" r="-26986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0564366" y="5117888"/>
            <a:ext cx="8468386" cy="1736019"/>
          </a:xfrm>
          <a:custGeom>
            <a:avLst/>
            <a:gdLst/>
            <a:ahLst/>
            <a:cxnLst/>
            <a:rect l="l" t="t" r="r" b="b"/>
            <a:pathLst>
              <a:path w="8468386" h="1736019">
                <a:moveTo>
                  <a:pt x="0" y="0"/>
                </a:moveTo>
                <a:lnTo>
                  <a:pt x="8468387" y="0"/>
                </a:lnTo>
                <a:lnTo>
                  <a:pt x="8468387" y="1736019"/>
                </a:lnTo>
                <a:lnTo>
                  <a:pt x="0" y="17360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221760" y="7145178"/>
            <a:ext cx="11415933" cy="2968143"/>
          </a:xfrm>
          <a:custGeom>
            <a:avLst/>
            <a:gdLst/>
            <a:ahLst/>
            <a:cxnLst/>
            <a:rect l="l" t="t" r="r" b="b"/>
            <a:pathLst>
              <a:path w="11415933" h="2968143">
                <a:moveTo>
                  <a:pt x="0" y="0"/>
                </a:moveTo>
                <a:lnTo>
                  <a:pt x="11415933" y="0"/>
                </a:lnTo>
                <a:lnTo>
                  <a:pt x="11415933" y="2968142"/>
                </a:lnTo>
                <a:lnTo>
                  <a:pt x="0" y="29681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576027" y="7771359"/>
            <a:ext cx="10707399" cy="168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2"/>
              </a:lnSpc>
              <a:spcBef>
                <a:spcPct val="0"/>
              </a:spcBef>
            </a:pPr>
            <a:r>
              <a:rPr lang="en-US" sz="3194" i="1">
                <a:solidFill>
                  <a:srgbClr val="082E61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Dataset → Data Cleaning → Missing Value Handling → Feature Processing → One-Hot Encoding → Train-Test Split → Model Training → Model Evaluation → Prediction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3242" y="2332021"/>
            <a:ext cx="7299586" cy="6818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8"/>
              </a:lnSpc>
            </a:pPr>
            <a:r>
              <a:rPr lang="en-US" sz="299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Preprocessing</a:t>
            </a:r>
          </a:p>
          <a:p>
            <a:pPr marL="645856" lvl="1" indent="-322928" algn="l">
              <a:lnSpc>
                <a:spcPts val="4188"/>
              </a:lnSpc>
              <a:buFont typeface="Arial"/>
              <a:buChar char="•"/>
            </a:pPr>
            <a:r>
              <a:rPr lang="en-US" sz="2991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Checked and cleaned the dataset.</a:t>
            </a:r>
          </a:p>
          <a:p>
            <a:pPr marL="645856" lvl="1" indent="-322928" algn="l">
              <a:lnSpc>
                <a:spcPts val="4188"/>
              </a:lnSpc>
              <a:buFont typeface="Arial"/>
              <a:buChar char="•"/>
            </a:pPr>
            <a:r>
              <a:rPr lang="en-US" sz="2991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Handled missing and invalid values.</a:t>
            </a:r>
          </a:p>
          <a:p>
            <a:pPr marL="645856" lvl="1" indent="-322928" algn="l">
              <a:lnSpc>
                <a:spcPts val="4188"/>
              </a:lnSpc>
              <a:buFont typeface="Arial"/>
              <a:buChar char="•"/>
            </a:pPr>
            <a:r>
              <a:rPr lang="en-US" sz="2991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Converted Timestamp into Year, Month, Day and Hour.</a:t>
            </a:r>
          </a:p>
          <a:p>
            <a:pPr marL="645856" lvl="1" indent="-322928" algn="l">
              <a:lnSpc>
                <a:spcPts val="4188"/>
              </a:lnSpc>
              <a:buFont typeface="Arial"/>
              <a:buChar char="•"/>
            </a:pPr>
            <a:r>
              <a:rPr lang="en-US" sz="2991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Filled numerical missing values using Median.</a:t>
            </a:r>
          </a:p>
          <a:p>
            <a:pPr marL="645856" lvl="1" indent="-322928" algn="l">
              <a:lnSpc>
                <a:spcPts val="4188"/>
              </a:lnSpc>
              <a:buFont typeface="Arial"/>
              <a:buChar char="•"/>
            </a:pPr>
            <a:r>
              <a:rPr lang="en-US" sz="2991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Filled categorical missing values using Unknown.</a:t>
            </a:r>
          </a:p>
          <a:p>
            <a:pPr marL="645856" lvl="1" indent="-322928" algn="l">
              <a:lnSpc>
                <a:spcPts val="4188"/>
              </a:lnSpc>
              <a:buFont typeface="Arial"/>
              <a:buChar char="•"/>
            </a:pPr>
            <a:r>
              <a:rPr lang="en-US" sz="2991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Applied One-Hot Encoding to categorical features.</a:t>
            </a:r>
          </a:p>
          <a:p>
            <a:pPr marL="645856" lvl="1" indent="-322928" algn="l">
              <a:lnSpc>
                <a:spcPts val="4188"/>
              </a:lnSpc>
              <a:buFont typeface="Arial"/>
              <a:buChar char="•"/>
            </a:pPr>
            <a:r>
              <a:rPr lang="en-US" sz="2991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Split data into 80% training and 20% testing.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821901" y="5291308"/>
            <a:ext cx="7466099" cy="961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74"/>
              </a:lnSpc>
              <a:spcBef>
                <a:spcPct val="0"/>
              </a:spcBef>
            </a:pPr>
            <a:r>
              <a:rPr lang="en-US" sz="2767" b="1">
                <a:solidFill>
                  <a:srgbClr val="082E61"/>
                </a:solidFill>
                <a:latin typeface="DM Sans Bold"/>
                <a:ea typeface="DM Sans Bold"/>
                <a:cs typeface="DM Sans Bold"/>
                <a:sym typeface="DM Sans Bold"/>
              </a:rPr>
              <a:t>Train-Test Split:</a:t>
            </a:r>
          </a:p>
          <a:p>
            <a:pPr algn="ctr">
              <a:lnSpc>
                <a:spcPts val="3874"/>
              </a:lnSpc>
              <a:spcBef>
                <a:spcPct val="0"/>
              </a:spcBef>
            </a:pPr>
            <a:r>
              <a:rPr lang="en-US" sz="2767" b="1" i="1">
                <a:solidFill>
                  <a:srgbClr val="082E61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80% Training (11,200) | 20% Testing (2,800)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9514" y="289160"/>
            <a:ext cx="8362547" cy="1438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6"/>
              </a:lnSpc>
            </a:pPr>
            <a:r>
              <a:rPr lang="en-US" sz="4412" b="1">
                <a:solidFill>
                  <a:srgbClr val="2139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PREPROCESSING &amp; METHODOLOGY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76027" y="2332021"/>
            <a:ext cx="5563288" cy="2175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Models Tested:</a:t>
            </a:r>
          </a:p>
          <a:p>
            <a:pPr marL="650660" lvl="1" indent="-325330" algn="just">
              <a:lnSpc>
                <a:spcPts val="4219"/>
              </a:lnSpc>
              <a:buFont typeface="Arial"/>
              <a:buChar char="•"/>
            </a:pPr>
            <a:r>
              <a:rPr lang="en-US" sz="3013" b="1" i="1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Linear Regression</a:t>
            </a:r>
          </a:p>
          <a:p>
            <a:pPr marL="650660" lvl="1" indent="-325330" algn="just">
              <a:lnSpc>
                <a:spcPts val="4219"/>
              </a:lnSpc>
              <a:buFont typeface="Arial"/>
              <a:buChar char="•"/>
            </a:pPr>
            <a:r>
              <a:rPr lang="en-US" sz="3013" b="1" i="1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Decision Tree Regression</a:t>
            </a:r>
          </a:p>
          <a:p>
            <a:pPr marL="650660" lvl="1" indent="-325330" algn="just">
              <a:lnSpc>
                <a:spcPts val="4219"/>
              </a:lnSpc>
              <a:buFont typeface="Arial"/>
              <a:buChar char="•"/>
            </a:pPr>
            <a:r>
              <a:rPr lang="en-US" sz="3013" b="1" i="1">
                <a:solidFill>
                  <a:srgbClr val="FFFFFF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Random Forest Regression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46420" y="7111082"/>
            <a:ext cx="3676840" cy="580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37"/>
              </a:lnSpc>
              <a:spcBef>
                <a:spcPct val="0"/>
              </a:spcBef>
            </a:pPr>
            <a:r>
              <a:rPr lang="en-US" sz="3384" b="1" i="1" dirty="0">
                <a:solidFill>
                  <a:srgbClr val="21394C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METHODOLOGY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1811" y="9479917"/>
            <a:ext cx="1236666" cy="654995"/>
          </a:xfrm>
          <a:custGeom>
            <a:avLst/>
            <a:gdLst/>
            <a:ahLst/>
            <a:cxnLst/>
            <a:rect l="l" t="t" r="r" b="b"/>
            <a:pathLst>
              <a:path w="1236666" h="654995">
                <a:moveTo>
                  <a:pt x="0" y="0"/>
                </a:moveTo>
                <a:lnTo>
                  <a:pt x="1236666" y="0"/>
                </a:lnTo>
                <a:lnTo>
                  <a:pt x="1236666" y="654996"/>
                </a:lnTo>
                <a:lnTo>
                  <a:pt x="0" y="654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6058" b="-123249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65361" y="559557"/>
            <a:ext cx="113485" cy="1242160"/>
            <a:chOff x="0" y="0"/>
            <a:chExt cx="44772" cy="4900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772" cy="490060"/>
            </a:xfrm>
            <a:custGeom>
              <a:avLst/>
              <a:gdLst/>
              <a:ahLst/>
              <a:cxnLst/>
              <a:rect l="l" t="t" r="r" b="b"/>
              <a:pathLst>
                <a:path w="44772" h="490060">
                  <a:moveTo>
                    <a:pt x="0" y="0"/>
                  </a:moveTo>
                  <a:lnTo>
                    <a:pt x="44772" y="0"/>
                  </a:lnTo>
                  <a:lnTo>
                    <a:pt x="44772" y="490060"/>
                  </a:lnTo>
                  <a:lnTo>
                    <a:pt x="0" y="490060"/>
                  </a:lnTo>
                  <a:close/>
                </a:path>
              </a:pathLst>
            </a:custGeom>
            <a:solidFill>
              <a:srgbClr val="082E6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4772" cy="528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78846" y="505251"/>
            <a:ext cx="11968204" cy="1350773"/>
            <a:chOff x="0" y="0"/>
            <a:chExt cx="4721721" cy="5329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721721" cy="532910"/>
            </a:xfrm>
            <a:custGeom>
              <a:avLst/>
              <a:gdLst/>
              <a:ahLst/>
              <a:cxnLst/>
              <a:rect l="l" t="t" r="r" b="b"/>
              <a:pathLst>
                <a:path w="4721721" h="532910">
                  <a:moveTo>
                    <a:pt x="0" y="0"/>
                  </a:moveTo>
                  <a:lnTo>
                    <a:pt x="4721721" y="0"/>
                  </a:lnTo>
                  <a:lnTo>
                    <a:pt x="4721721" y="532910"/>
                  </a:lnTo>
                  <a:lnTo>
                    <a:pt x="0" y="532910"/>
                  </a:lnTo>
                  <a:close/>
                </a:path>
              </a:pathLst>
            </a:custGeom>
            <a:gradFill rotWithShape="1">
              <a:gsLst>
                <a:gs pos="0">
                  <a:srgbClr val="C4C4C4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721721" cy="571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21706" y="2925668"/>
            <a:ext cx="3990770" cy="4435665"/>
          </a:xfrm>
          <a:custGeom>
            <a:avLst/>
            <a:gdLst/>
            <a:ahLst/>
            <a:cxnLst/>
            <a:rect l="l" t="t" r="r" b="b"/>
            <a:pathLst>
              <a:path w="3990770" h="4435665">
                <a:moveTo>
                  <a:pt x="0" y="0"/>
                </a:moveTo>
                <a:lnTo>
                  <a:pt x="3990770" y="0"/>
                </a:lnTo>
                <a:lnTo>
                  <a:pt x="3990770" y="4435664"/>
                </a:lnTo>
                <a:lnTo>
                  <a:pt x="0" y="44356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663006" y="2925668"/>
            <a:ext cx="3990770" cy="4435665"/>
          </a:xfrm>
          <a:custGeom>
            <a:avLst/>
            <a:gdLst/>
            <a:ahLst/>
            <a:cxnLst/>
            <a:rect l="l" t="t" r="r" b="b"/>
            <a:pathLst>
              <a:path w="3990770" h="4435665">
                <a:moveTo>
                  <a:pt x="0" y="0"/>
                </a:moveTo>
                <a:lnTo>
                  <a:pt x="3990770" y="0"/>
                </a:lnTo>
                <a:lnTo>
                  <a:pt x="3990770" y="4435664"/>
                </a:lnTo>
                <a:lnTo>
                  <a:pt x="0" y="4435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004306" y="2925668"/>
            <a:ext cx="3990770" cy="4435665"/>
          </a:xfrm>
          <a:custGeom>
            <a:avLst/>
            <a:gdLst/>
            <a:ahLst/>
            <a:cxnLst/>
            <a:rect l="l" t="t" r="r" b="b"/>
            <a:pathLst>
              <a:path w="3990770" h="4435665">
                <a:moveTo>
                  <a:pt x="0" y="0"/>
                </a:moveTo>
                <a:lnTo>
                  <a:pt x="3990770" y="0"/>
                </a:lnTo>
                <a:lnTo>
                  <a:pt x="3990770" y="4435664"/>
                </a:lnTo>
                <a:lnTo>
                  <a:pt x="0" y="44356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04569" y="7935619"/>
            <a:ext cx="17278861" cy="1544298"/>
          </a:xfrm>
          <a:custGeom>
            <a:avLst/>
            <a:gdLst/>
            <a:ahLst/>
            <a:cxnLst/>
            <a:rect l="l" t="t" r="r" b="b"/>
            <a:pathLst>
              <a:path w="17278861" h="1544298">
                <a:moveTo>
                  <a:pt x="0" y="0"/>
                </a:moveTo>
                <a:lnTo>
                  <a:pt x="17278862" y="0"/>
                </a:lnTo>
                <a:lnTo>
                  <a:pt x="17278862" y="1544298"/>
                </a:lnTo>
                <a:lnTo>
                  <a:pt x="0" y="15442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347501" y="4542048"/>
            <a:ext cx="4510206" cy="2562634"/>
          </a:xfrm>
          <a:custGeom>
            <a:avLst/>
            <a:gdLst/>
            <a:ahLst/>
            <a:cxnLst/>
            <a:rect l="l" t="t" r="r" b="b"/>
            <a:pathLst>
              <a:path w="4510206" h="2562634">
                <a:moveTo>
                  <a:pt x="0" y="0"/>
                </a:moveTo>
                <a:lnTo>
                  <a:pt x="4510206" y="0"/>
                </a:lnTo>
                <a:lnTo>
                  <a:pt x="4510206" y="2562634"/>
                </a:lnTo>
                <a:lnTo>
                  <a:pt x="0" y="25626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737" r="-8277"/>
            </a:stretch>
          </a:blipFill>
          <a:ln w="104775" cap="sq">
            <a:solidFill>
              <a:srgbClr val="000000"/>
            </a:solidFill>
            <a:prstDash val="solid"/>
            <a:miter/>
          </a:ln>
        </p:spPr>
      </p:sp>
      <p:sp>
        <p:nvSpPr>
          <p:cNvPr id="15" name="TextBox 15"/>
          <p:cNvSpPr txBox="1"/>
          <p:nvPr/>
        </p:nvSpPr>
        <p:spPr>
          <a:xfrm>
            <a:off x="13506068" y="3464091"/>
            <a:ext cx="4351639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Our Final Random Forest output:</a:t>
            </a:r>
          </a:p>
        </p:txBody>
      </p:sp>
      <p:sp>
        <p:nvSpPr>
          <p:cNvPr id="17" name="Freeform 17"/>
          <p:cNvSpPr/>
          <p:nvPr/>
        </p:nvSpPr>
        <p:spPr>
          <a:xfrm>
            <a:off x="4663006" y="2925668"/>
            <a:ext cx="4192137" cy="1215720"/>
          </a:xfrm>
          <a:custGeom>
            <a:avLst/>
            <a:gdLst/>
            <a:ahLst/>
            <a:cxnLst/>
            <a:rect l="l" t="t" r="r" b="b"/>
            <a:pathLst>
              <a:path w="4192137" h="1215720">
                <a:moveTo>
                  <a:pt x="0" y="0"/>
                </a:moveTo>
                <a:lnTo>
                  <a:pt x="4192137" y="0"/>
                </a:lnTo>
                <a:lnTo>
                  <a:pt x="4192137" y="1215719"/>
                </a:lnTo>
                <a:lnTo>
                  <a:pt x="0" y="12157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710276" y="688535"/>
            <a:ext cx="9298574" cy="879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9"/>
              </a:lnSpc>
              <a:spcBef>
                <a:spcPct val="0"/>
              </a:spcBef>
            </a:pPr>
            <a:r>
              <a:rPr lang="en-US" sz="5092">
                <a:solidFill>
                  <a:srgbClr val="2139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Machine Learning Models</a:t>
            </a:r>
          </a:p>
        </p:txBody>
      </p:sp>
      <p:sp>
        <p:nvSpPr>
          <p:cNvPr id="19" name="Freeform 19"/>
          <p:cNvSpPr/>
          <p:nvPr/>
        </p:nvSpPr>
        <p:spPr>
          <a:xfrm>
            <a:off x="9004306" y="2925668"/>
            <a:ext cx="4192137" cy="1215720"/>
          </a:xfrm>
          <a:custGeom>
            <a:avLst/>
            <a:gdLst/>
            <a:ahLst/>
            <a:cxnLst/>
            <a:rect l="l" t="t" r="r" b="b"/>
            <a:pathLst>
              <a:path w="4192137" h="1215720">
                <a:moveTo>
                  <a:pt x="0" y="0"/>
                </a:moveTo>
                <a:lnTo>
                  <a:pt x="4192136" y="0"/>
                </a:lnTo>
                <a:lnTo>
                  <a:pt x="4192136" y="1215719"/>
                </a:lnTo>
                <a:lnTo>
                  <a:pt x="0" y="12157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21023" y="2925668"/>
            <a:ext cx="4192137" cy="1215720"/>
          </a:xfrm>
          <a:custGeom>
            <a:avLst/>
            <a:gdLst/>
            <a:ahLst/>
            <a:cxnLst/>
            <a:rect l="l" t="t" r="r" b="b"/>
            <a:pathLst>
              <a:path w="4192137" h="1215720">
                <a:moveTo>
                  <a:pt x="0" y="0"/>
                </a:moveTo>
                <a:lnTo>
                  <a:pt x="4192136" y="0"/>
                </a:lnTo>
                <a:lnTo>
                  <a:pt x="4192136" y="1215719"/>
                </a:lnTo>
                <a:lnTo>
                  <a:pt x="0" y="12157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10276" y="3268559"/>
            <a:ext cx="3442471" cy="47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1"/>
              </a:lnSpc>
            </a:pPr>
            <a:r>
              <a:rPr lang="en-US" sz="272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Linear Regression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57800" y="2984501"/>
            <a:ext cx="2819400" cy="915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83"/>
              </a:lnSpc>
            </a:pPr>
            <a:r>
              <a:rPr lang="en-US" sz="263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Decision Tree</a:t>
            </a:r>
          </a:p>
          <a:p>
            <a:pPr algn="ctr">
              <a:lnSpc>
                <a:spcPts val="3683"/>
              </a:lnSpc>
            </a:pPr>
            <a:r>
              <a:rPr lang="en-US" sz="263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Regression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02939" y="3029986"/>
            <a:ext cx="4393503" cy="915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83"/>
              </a:lnSpc>
            </a:pPr>
            <a:r>
              <a:rPr lang="en-US" sz="263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Random Forest</a:t>
            </a:r>
          </a:p>
          <a:p>
            <a:pPr algn="ctr">
              <a:lnSpc>
                <a:spcPts val="3683"/>
              </a:lnSpc>
            </a:pPr>
            <a:r>
              <a:rPr lang="en-US" sz="263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Regression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914174" y="9458325"/>
            <a:ext cx="1236666" cy="654995"/>
          </a:xfrm>
          <a:custGeom>
            <a:avLst/>
            <a:gdLst/>
            <a:ahLst/>
            <a:cxnLst/>
            <a:rect l="l" t="t" r="r" b="b"/>
            <a:pathLst>
              <a:path w="1236666" h="654995">
                <a:moveTo>
                  <a:pt x="0" y="0"/>
                </a:moveTo>
                <a:lnTo>
                  <a:pt x="1236666" y="0"/>
                </a:lnTo>
                <a:lnTo>
                  <a:pt x="1236666" y="654995"/>
                </a:lnTo>
                <a:lnTo>
                  <a:pt x="0" y="654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6058" b="-12324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07966" y="-274273"/>
            <a:ext cx="1236666" cy="654995"/>
          </a:xfrm>
          <a:custGeom>
            <a:avLst/>
            <a:gdLst/>
            <a:ahLst/>
            <a:cxnLst/>
            <a:rect l="l" t="t" r="r" b="b"/>
            <a:pathLst>
              <a:path w="1236666" h="654995">
                <a:moveTo>
                  <a:pt x="0" y="0"/>
                </a:moveTo>
                <a:lnTo>
                  <a:pt x="1236666" y="0"/>
                </a:lnTo>
                <a:lnTo>
                  <a:pt x="1236666" y="654996"/>
                </a:lnTo>
                <a:lnTo>
                  <a:pt x="0" y="654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6058" b="-123249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87824" y="205491"/>
            <a:ext cx="7564446" cy="1085690"/>
            <a:chOff x="0" y="0"/>
            <a:chExt cx="3414446" cy="4900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14446" cy="490060"/>
            </a:xfrm>
            <a:custGeom>
              <a:avLst/>
              <a:gdLst/>
              <a:ahLst/>
              <a:cxnLst/>
              <a:rect l="l" t="t" r="r" b="b"/>
              <a:pathLst>
                <a:path w="3414446" h="490060">
                  <a:moveTo>
                    <a:pt x="0" y="0"/>
                  </a:moveTo>
                  <a:lnTo>
                    <a:pt x="3414446" y="0"/>
                  </a:lnTo>
                  <a:lnTo>
                    <a:pt x="3414446" y="490060"/>
                  </a:lnTo>
                  <a:lnTo>
                    <a:pt x="0" y="490060"/>
                  </a:lnTo>
                  <a:close/>
                </a:path>
              </a:pathLst>
            </a:custGeom>
            <a:gradFill rotWithShape="1">
              <a:gsLst>
                <a:gs pos="0">
                  <a:srgbClr val="C4C4C4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414446" cy="528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64963" y="205491"/>
            <a:ext cx="122861" cy="1085690"/>
            <a:chOff x="0" y="0"/>
            <a:chExt cx="55457" cy="4900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5457" cy="490060"/>
            </a:xfrm>
            <a:custGeom>
              <a:avLst/>
              <a:gdLst/>
              <a:ahLst/>
              <a:cxnLst/>
              <a:rect l="l" t="t" r="r" b="b"/>
              <a:pathLst>
                <a:path w="55457" h="490060">
                  <a:moveTo>
                    <a:pt x="0" y="0"/>
                  </a:moveTo>
                  <a:lnTo>
                    <a:pt x="55457" y="0"/>
                  </a:lnTo>
                  <a:lnTo>
                    <a:pt x="55457" y="490060"/>
                  </a:lnTo>
                  <a:lnTo>
                    <a:pt x="0" y="490060"/>
                  </a:lnTo>
                  <a:close/>
                </a:path>
              </a:pathLst>
            </a:custGeom>
            <a:solidFill>
              <a:srgbClr val="082E6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5457" cy="528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401246" y="4455766"/>
            <a:ext cx="7499178" cy="4033892"/>
          </a:xfrm>
          <a:custGeom>
            <a:avLst/>
            <a:gdLst/>
            <a:ahLst/>
            <a:cxnLst/>
            <a:rect l="l" t="t" r="r" b="b"/>
            <a:pathLst>
              <a:path w="7499178" h="4033892">
                <a:moveTo>
                  <a:pt x="0" y="0"/>
                </a:moveTo>
                <a:lnTo>
                  <a:pt x="7499178" y="0"/>
                </a:lnTo>
                <a:lnTo>
                  <a:pt x="7499178" y="4033892"/>
                </a:lnTo>
                <a:lnTo>
                  <a:pt x="0" y="40338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401246" y="205491"/>
            <a:ext cx="7499178" cy="4222671"/>
          </a:xfrm>
          <a:custGeom>
            <a:avLst/>
            <a:gdLst/>
            <a:ahLst/>
            <a:cxnLst/>
            <a:rect l="l" t="t" r="r" b="b"/>
            <a:pathLst>
              <a:path w="7499178" h="4222671">
                <a:moveTo>
                  <a:pt x="0" y="0"/>
                </a:moveTo>
                <a:lnTo>
                  <a:pt x="7499178" y="0"/>
                </a:lnTo>
                <a:lnTo>
                  <a:pt x="7499178" y="4222671"/>
                </a:lnTo>
                <a:lnTo>
                  <a:pt x="0" y="4222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65" r="-3518" b="-2418"/>
            </a:stretch>
          </a:blipFill>
        </p:spPr>
      </p:sp>
      <p:graphicFrame>
        <p:nvGraphicFramePr>
          <p:cNvPr id="13" name="Object 13"/>
          <p:cNvGraphicFramePr/>
          <p:nvPr/>
        </p:nvGraphicFramePr>
        <p:xfrm>
          <a:off x="410367" y="1969042"/>
          <a:ext cx="12090049" cy="4933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14503400" imgH="7353300" progId="Excel.Sheet.12">
                  <p:embed/>
                </p:oleObj>
              </mc:Choice>
              <mc:Fallback>
                <p:oleObj name="Worksheet" r:id="rId6" imgW="14503400" imgH="73533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0367" y="1969042"/>
                        <a:ext cx="12090049" cy="49334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/>
          <p:nvPr/>
        </p:nvGraphicFramePr>
        <p:xfrm>
          <a:off x="4139967" y="6469416"/>
          <a:ext cx="565785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6781800" imgH="3644900" progId="Excel.Sheet.12">
                  <p:embed/>
                </p:oleObj>
              </mc:Choice>
              <mc:Fallback>
                <p:oleObj name="Worksheet" r:id="rId8" imgW="6781800" imgH="3644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39967" y="6469416"/>
                        <a:ext cx="5657850" cy="251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reeform 15"/>
          <p:cNvSpPr/>
          <p:nvPr/>
        </p:nvSpPr>
        <p:spPr>
          <a:xfrm flipH="1">
            <a:off x="6059240" y="1969042"/>
            <a:ext cx="2857419" cy="3342011"/>
          </a:xfrm>
          <a:custGeom>
            <a:avLst/>
            <a:gdLst/>
            <a:ahLst/>
            <a:cxnLst/>
            <a:rect l="l" t="t" r="r" b="b"/>
            <a:pathLst>
              <a:path w="2857419" h="3342011">
                <a:moveTo>
                  <a:pt x="2857419" y="0"/>
                </a:moveTo>
                <a:lnTo>
                  <a:pt x="0" y="0"/>
                </a:lnTo>
                <a:lnTo>
                  <a:pt x="0" y="3342010"/>
                </a:lnTo>
                <a:lnTo>
                  <a:pt x="2857419" y="3342010"/>
                </a:lnTo>
                <a:lnTo>
                  <a:pt x="285741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277566" y="2215244"/>
            <a:ext cx="2420766" cy="245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6"/>
              </a:lnSpc>
              <a:spcBef>
                <a:spcPct val="0"/>
              </a:spcBef>
            </a:pPr>
            <a:r>
              <a:rPr lang="en-US" sz="2033" b="1" dirty="0">
                <a:solidFill>
                  <a:srgbClr val="082E61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Random Forest achieved the lowest MAE and RMSE and the highest R² score among the three models.</a:t>
            </a:r>
          </a:p>
        </p:txBody>
      </p:sp>
      <p:sp>
        <p:nvSpPr>
          <p:cNvPr id="17" name="Freeform 17"/>
          <p:cNvSpPr/>
          <p:nvPr/>
        </p:nvSpPr>
        <p:spPr>
          <a:xfrm>
            <a:off x="680693" y="5832591"/>
            <a:ext cx="3205426" cy="3749036"/>
          </a:xfrm>
          <a:custGeom>
            <a:avLst/>
            <a:gdLst/>
            <a:ahLst/>
            <a:cxnLst/>
            <a:rect l="l" t="t" r="r" b="b"/>
            <a:pathLst>
              <a:path w="3205426" h="3749036">
                <a:moveTo>
                  <a:pt x="0" y="0"/>
                </a:moveTo>
                <a:lnTo>
                  <a:pt x="3205426" y="0"/>
                </a:lnTo>
                <a:lnTo>
                  <a:pt x="3205426" y="3749036"/>
                </a:lnTo>
                <a:lnTo>
                  <a:pt x="0" y="3749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170887" y="8489658"/>
            <a:ext cx="6729537" cy="1682384"/>
          </a:xfrm>
          <a:custGeom>
            <a:avLst/>
            <a:gdLst/>
            <a:ahLst/>
            <a:cxnLst/>
            <a:rect l="l" t="t" r="r" b="b"/>
            <a:pathLst>
              <a:path w="6729537" h="1682384">
                <a:moveTo>
                  <a:pt x="0" y="0"/>
                </a:moveTo>
                <a:lnTo>
                  <a:pt x="6729537" y="0"/>
                </a:lnTo>
                <a:lnTo>
                  <a:pt x="6729537" y="1682385"/>
                </a:lnTo>
                <a:lnTo>
                  <a:pt x="0" y="16823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1721038" y="8804926"/>
            <a:ext cx="5629234" cy="1259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  <a:spcBef>
                <a:spcPct val="0"/>
              </a:spcBef>
            </a:pPr>
            <a:r>
              <a:rPr lang="en-US" sz="180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MAE Comparison</a:t>
            </a:r>
          </a:p>
          <a:p>
            <a:pPr algn="ctr">
              <a:lnSpc>
                <a:spcPts val="2521"/>
              </a:lnSpc>
              <a:spcBef>
                <a:spcPct val="0"/>
              </a:spcBef>
            </a:pPr>
            <a:r>
              <a:rPr lang="en-US" sz="180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Lower MAE = lower error. Random Forest: 11.79.</a:t>
            </a:r>
          </a:p>
          <a:p>
            <a:pPr algn="ctr">
              <a:lnSpc>
                <a:spcPts val="2521"/>
              </a:lnSpc>
              <a:spcBef>
                <a:spcPct val="0"/>
              </a:spcBef>
            </a:pPr>
            <a:r>
              <a:rPr lang="en-US" sz="180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R² Score Comparison</a:t>
            </a:r>
          </a:p>
          <a:p>
            <a:pPr algn="ctr">
              <a:lnSpc>
                <a:spcPts val="2521"/>
              </a:lnSpc>
              <a:spcBef>
                <a:spcPct val="0"/>
              </a:spcBef>
            </a:pPr>
            <a:r>
              <a:rPr lang="en-US" sz="180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Higher R² = better fit. Random Forest: 0.940.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7442" y="1572802"/>
            <a:ext cx="4833223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C7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Model Performance Comparison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6962" y="310277"/>
            <a:ext cx="7093038" cy="780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9"/>
              </a:lnSpc>
              <a:spcBef>
                <a:spcPct val="0"/>
              </a:spcBef>
            </a:pPr>
            <a:r>
              <a:rPr lang="en-US" sz="4507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Evaluation &amp; Metrics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887981" y="5949227"/>
            <a:ext cx="2810351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C7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Evaluation Metrics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3361" y="6139727"/>
            <a:ext cx="2760090" cy="2463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5"/>
              </a:lnSpc>
              <a:spcBef>
                <a:spcPct val="0"/>
              </a:spcBef>
            </a:pPr>
            <a:r>
              <a:rPr lang="en-US" sz="2010" b="1">
                <a:solidFill>
                  <a:srgbClr val="082E61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MAE and RMSE measure prediction error, while R² describes how much variation in the target is explained by the model.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194299" y="5326816"/>
            <a:ext cx="7630290" cy="4731154"/>
            <a:chOff x="0" y="0"/>
            <a:chExt cx="1393655" cy="8641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93655" cy="864134"/>
            </a:xfrm>
            <a:custGeom>
              <a:avLst/>
              <a:gdLst/>
              <a:ahLst/>
              <a:cxnLst/>
              <a:rect l="l" t="t" r="r" b="b"/>
              <a:pathLst>
                <a:path w="1393655" h="864134">
                  <a:moveTo>
                    <a:pt x="0" y="0"/>
                  </a:moveTo>
                  <a:lnTo>
                    <a:pt x="1393655" y="0"/>
                  </a:lnTo>
                  <a:lnTo>
                    <a:pt x="1393655" y="864134"/>
                  </a:lnTo>
                  <a:lnTo>
                    <a:pt x="0" y="864134"/>
                  </a:lnTo>
                  <a:close/>
                </a:path>
              </a:pathLst>
            </a:custGeom>
            <a:blipFill>
              <a:blip r:embed="rId3"/>
              <a:stretch>
                <a:fillRect t="-573" b="-573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329194" y="500102"/>
            <a:ext cx="939493" cy="1467667"/>
            <a:chOff x="0" y="0"/>
            <a:chExt cx="370651" cy="5790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0651" cy="579027"/>
            </a:xfrm>
            <a:custGeom>
              <a:avLst/>
              <a:gdLst/>
              <a:ahLst/>
              <a:cxnLst/>
              <a:rect l="l" t="t" r="r" b="b"/>
              <a:pathLst>
                <a:path w="370651" h="579027">
                  <a:moveTo>
                    <a:pt x="0" y="0"/>
                  </a:moveTo>
                  <a:lnTo>
                    <a:pt x="370651" y="0"/>
                  </a:lnTo>
                  <a:lnTo>
                    <a:pt x="370651" y="579027"/>
                  </a:lnTo>
                  <a:lnTo>
                    <a:pt x="0" y="579027"/>
                  </a:lnTo>
                  <a:close/>
                </a:path>
              </a:pathLst>
            </a:custGeom>
            <a:solidFill>
              <a:srgbClr val="082E6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70651" cy="617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7309" y="500102"/>
            <a:ext cx="10147353" cy="1467667"/>
            <a:chOff x="0" y="0"/>
            <a:chExt cx="4003355" cy="5790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03355" cy="579027"/>
            </a:xfrm>
            <a:custGeom>
              <a:avLst/>
              <a:gdLst/>
              <a:ahLst/>
              <a:cxnLst/>
              <a:rect l="l" t="t" r="r" b="b"/>
              <a:pathLst>
                <a:path w="4003355" h="579027">
                  <a:moveTo>
                    <a:pt x="0" y="0"/>
                  </a:moveTo>
                  <a:lnTo>
                    <a:pt x="4003355" y="0"/>
                  </a:lnTo>
                  <a:lnTo>
                    <a:pt x="4003355" y="579027"/>
                  </a:lnTo>
                  <a:lnTo>
                    <a:pt x="0" y="579027"/>
                  </a:lnTo>
                  <a:close/>
                </a:path>
              </a:pathLst>
            </a:custGeom>
            <a:gradFill rotWithShape="1">
              <a:gsLst>
                <a:gs pos="0">
                  <a:srgbClr val="C4C4C4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003355" cy="617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667008" y="288075"/>
            <a:ext cx="4684873" cy="4282954"/>
          </a:xfrm>
          <a:custGeom>
            <a:avLst/>
            <a:gdLst/>
            <a:ahLst/>
            <a:cxnLst/>
            <a:rect l="l" t="t" r="r" b="b"/>
            <a:pathLst>
              <a:path w="4684873" h="4282954">
                <a:moveTo>
                  <a:pt x="0" y="0"/>
                </a:moveTo>
                <a:lnTo>
                  <a:pt x="4684873" y="0"/>
                </a:lnTo>
                <a:lnTo>
                  <a:pt x="4684873" y="4282954"/>
                </a:lnTo>
                <a:lnTo>
                  <a:pt x="0" y="4282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30566" y="542742"/>
            <a:ext cx="8513434" cy="13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9"/>
              </a:lnSpc>
            </a:pPr>
            <a:r>
              <a:rPr lang="en-US" sz="386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Prediction, Conclusion &amp; Future scope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5483" y="2150708"/>
            <a:ext cx="9844589" cy="208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Prediction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 i="1">
                <a:solidFill>
                  <a:srgbClr val="FFFFFF"/>
                </a:solidFill>
                <a:latin typeface="Roca One Bold Italics"/>
                <a:ea typeface="Roca One Bold Italics"/>
                <a:cs typeface="Roca One Bold Italics"/>
                <a:sym typeface="Roca One Bold Italics"/>
              </a:rPr>
              <a:t>Final model: Random Forest Regression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Sample predicted water consumption: </a:t>
            </a:r>
            <a:r>
              <a:rPr lang="en-US" sz="2400" i="1" u="sng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240.45 units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Prediction is generated using household, environmental, economic, and usage-related features.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5483" y="4299548"/>
            <a:ext cx="9968816" cy="2816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7"/>
              </a:lnSpc>
              <a:spcBef>
                <a:spcPct val="0"/>
              </a:spcBef>
            </a:pPr>
            <a:r>
              <a:rPr lang="en-US" sz="230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Future Scope</a:t>
            </a:r>
          </a:p>
          <a:p>
            <a:pPr marL="497673" lvl="1" indent="-248837" algn="l">
              <a:lnSpc>
                <a:spcPts val="3227"/>
              </a:lnSpc>
              <a:buFont typeface="Arial"/>
              <a:buChar char="•"/>
            </a:pPr>
            <a:r>
              <a:rPr lang="en-US" sz="230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 real-time smart-meter/IoT data.</a:t>
            </a:r>
          </a:p>
          <a:p>
            <a:pPr marL="497673" lvl="1" indent="-248837" algn="l">
              <a:lnSpc>
                <a:spcPts val="3227"/>
              </a:lnSpc>
              <a:buFont typeface="Arial"/>
              <a:buChar char="•"/>
            </a:pPr>
            <a:r>
              <a:rPr lang="en-US" sz="230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Include larger and more diverse datasets.</a:t>
            </a:r>
          </a:p>
          <a:p>
            <a:pPr marL="497673" lvl="1" indent="-248837" algn="l">
              <a:lnSpc>
                <a:spcPts val="3227"/>
              </a:lnSpc>
              <a:buFont typeface="Arial"/>
              <a:buChar char="•"/>
            </a:pPr>
            <a:r>
              <a:rPr lang="en-US" sz="230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more weather and seasonal information.</a:t>
            </a:r>
          </a:p>
          <a:p>
            <a:pPr marL="497673" lvl="1" indent="-248837" algn="l">
              <a:lnSpc>
                <a:spcPts val="3227"/>
              </a:lnSpc>
              <a:buFont typeface="Arial"/>
              <a:buChar char="•"/>
            </a:pPr>
            <a:r>
              <a:rPr lang="en-US" sz="230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Develop a web/mobile dashboard for consumption monitoring.</a:t>
            </a:r>
          </a:p>
          <a:p>
            <a:pPr marL="497673" lvl="1" indent="-248837" algn="l">
              <a:lnSpc>
                <a:spcPts val="3227"/>
              </a:lnSpc>
              <a:buFont typeface="Arial"/>
              <a:buChar char="•"/>
            </a:pPr>
            <a:r>
              <a:rPr lang="en-US" sz="230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Explore advanced models such as LSTM and other time-series methods.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9194" y="7182533"/>
            <a:ext cx="9231484" cy="2815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6"/>
              </a:lnSpc>
              <a:spcBef>
                <a:spcPct val="0"/>
              </a:spcBef>
            </a:pPr>
            <a:r>
              <a:rPr lang="en-US" sz="230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Conclusion</a:t>
            </a:r>
          </a:p>
          <a:p>
            <a:pPr algn="l">
              <a:lnSpc>
                <a:spcPts val="3226"/>
              </a:lnSpc>
              <a:spcBef>
                <a:spcPct val="0"/>
              </a:spcBef>
            </a:pPr>
            <a:r>
              <a:rPr lang="en-US" sz="230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Three regression models were compared:</a:t>
            </a:r>
            <a:r>
              <a:rPr lang="en-US" sz="2304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Linear Regression, Decision Tree, and Random Forest.</a:t>
            </a:r>
          </a:p>
          <a:p>
            <a:pPr algn="l">
              <a:lnSpc>
                <a:spcPts val="3226"/>
              </a:lnSpc>
              <a:spcBef>
                <a:spcPct val="0"/>
              </a:spcBef>
            </a:pPr>
            <a:r>
              <a:rPr lang="en-US" sz="2304" b="1">
                <a:solidFill>
                  <a:srgbClr val="FFFFFF"/>
                </a:solidFill>
                <a:latin typeface="Roca One Bold"/>
                <a:ea typeface="Roca One Bold"/>
                <a:cs typeface="Roca One Bold"/>
                <a:sym typeface="Roca One Bold"/>
              </a:rPr>
              <a:t>Random Forest achieved the best test performance:</a:t>
            </a:r>
          </a:p>
          <a:p>
            <a:pPr algn="l">
              <a:lnSpc>
                <a:spcPts val="3226"/>
              </a:lnSpc>
              <a:spcBef>
                <a:spcPct val="0"/>
              </a:spcBef>
            </a:pPr>
            <a:r>
              <a:rPr lang="en-US" sz="2304" b="1">
                <a:solidFill>
                  <a:srgbClr val="FFFFFF"/>
                </a:solidFill>
                <a:latin typeface="Roca One Bold"/>
                <a:ea typeface="Roca One Bold"/>
                <a:cs typeface="Roca One Bold"/>
                <a:sym typeface="Roca One Bold"/>
              </a:rPr>
              <a:t> </a:t>
            </a:r>
            <a:r>
              <a:rPr lang="en-US" sz="2304" b="1" i="1">
                <a:solidFill>
                  <a:srgbClr val="FFFFFF"/>
                </a:solidFill>
                <a:latin typeface="Roca One Bold Italics"/>
                <a:ea typeface="Roca One Bold Italics"/>
                <a:cs typeface="Roca One Bold Italics"/>
                <a:sym typeface="Roca One Bold Italics"/>
              </a:rPr>
              <a:t>MAE = 11.79 | RMSE = 18.26 | R² = 0.940</a:t>
            </a:r>
          </a:p>
          <a:p>
            <a:pPr algn="l">
              <a:lnSpc>
                <a:spcPts val="3226"/>
              </a:lnSpc>
              <a:spcBef>
                <a:spcPct val="0"/>
              </a:spcBef>
            </a:pPr>
            <a:r>
              <a:rPr lang="en-US" sz="230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project demonstrates that ML can be used to predict household water consumption from multiple input features.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15842" y="4640094"/>
            <a:ext cx="5957757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C7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Sample Household Input &amp; Prediction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008017" y="9079416"/>
            <a:ext cx="2279983" cy="1207584"/>
          </a:xfrm>
          <a:custGeom>
            <a:avLst/>
            <a:gdLst/>
            <a:ahLst/>
            <a:cxnLst/>
            <a:rect l="l" t="t" r="r" b="b"/>
            <a:pathLst>
              <a:path w="2279983" h="1207584">
                <a:moveTo>
                  <a:pt x="0" y="0"/>
                </a:moveTo>
                <a:lnTo>
                  <a:pt x="2279983" y="0"/>
                </a:lnTo>
                <a:lnTo>
                  <a:pt x="2279983" y="1207584"/>
                </a:lnTo>
                <a:lnTo>
                  <a:pt x="0" y="12075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6058" b="-12324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149115" y="3010010"/>
            <a:ext cx="5989769" cy="6819908"/>
          </a:xfrm>
          <a:custGeom>
            <a:avLst/>
            <a:gdLst/>
            <a:ahLst/>
            <a:cxnLst/>
            <a:rect l="l" t="t" r="r" b="b"/>
            <a:pathLst>
              <a:path w="5989769" h="6819908">
                <a:moveTo>
                  <a:pt x="0" y="0"/>
                </a:moveTo>
                <a:lnTo>
                  <a:pt x="5989770" y="0"/>
                </a:lnTo>
                <a:lnTo>
                  <a:pt x="5989770" y="6819908"/>
                </a:lnTo>
                <a:lnTo>
                  <a:pt x="0" y="6819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34541" y="5095875"/>
            <a:ext cx="4685874" cy="466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2"/>
              </a:lnSpc>
            </a:pPr>
            <a:endParaRPr/>
          </a:p>
          <a:p>
            <a:pPr algn="just">
              <a:lnSpc>
                <a:spcPts val="3412"/>
              </a:lnSpc>
            </a:pPr>
            <a:endParaRPr/>
          </a:p>
          <a:p>
            <a:pPr algn="just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References</a:t>
            </a:r>
          </a:p>
          <a:p>
            <a:pPr marL="526195" lvl="1" indent="-263098" algn="just">
              <a:lnSpc>
                <a:spcPts val="3412"/>
              </a:lnSpc>
              <a:spcBef>
                <a:spcPct val="0"/>
              </a:spcBef>
              <a:buFont typeface="Arial"/>
              <a:buChar char="•"/>
            </a:pPr>
            <a:r>
              <a:rPr lang="en-US" sz="2437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GitHub – Household Water Consumption Pattern</a:t>
            </a:r>
          </a:p>
          <a:p>
            <a:pPr marL="526195" lvl="1" indent="-263098" algn="just">
              <a:lnSpc>
                <a:spcPts val="3412"/>
              </a:lnSpc>
              <a:spcBef>
                <a:spcPct val="0"/>
              </a:spcBef>
              <a:buFont typeface="Arial"/>
              <a:buChar char="•"/>
            </a:pPr>
            <a:r>
              <a:rPr lang="en-US" sz="2437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Scikit-learn Documentation</a:t>
            </a:r>
          </a:p>
          <a:p>
            <a:pPr marL="526195" lvl="1" indent="-263098" algn="just">
              <a:lnSpc>
                <a:spcPts val="3412"/>
              </a:lnSpc>
              <a:spcBef>
                <a:spcPct val="0"/>
              </a:spcBef>
              <a:buFont typeface="Arial"/>
              <a:buChar char="•"/>
            </a:pPr>
            <a:r>
              <a:rPr lang="en-US" sz="2437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Pandas Documentation</a:t>
            </a:r>
          </a:p>
          <a:p>
            <a:pPr marL="526195" lvl="1" indent="-263098" algn="just">
              <a:lnSpc>
                <a:spcPts val="3412"/>
              </a:lnSpc>
              <a:spcBef>
                <a:spcPct val="0"/>
              </a:spcBef>
              <a:buFont typeface="Arial"/>
              <a:buChar char="•"/>
            </a:pPr>
            <a:r>
              <a:rPr lang="en-US" sz="2437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NumPy Documentation</a:t>
            </a:r>
          </a:p>
          <a:p>
            <a:pPr marL="526195" lvl="1" indent="-263098" algn="just">
              <a:lnSpc>
                <a:spcPts val="3412"/>
              </a:lnSpc>
              <a:spcBef>
                <a:spcPct val="0"/>
              </a:spcBef>
              <a:buFont typeface="Arial"/>
              <a:buChar char="•"/>
            </a:pPr>
            <a:r>
              <a:rPr lang="en-US" sz="2437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Matplotlib Documentation</a:t>
            </a:r>
          </a:p>
          <a:p>
            <a:pPr algn="just">
              <a:lnSpc>
                <a:spcPts val="3412"/>
              </a:lnSpc>
              <a:spcBef>
                <a:spcPct val="0"/>
              </a:spcBef>
            </a:pPr>
            <a:endParaRPr lang="en-US" sz="2437" b="1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012416" y="69401"/>
            <a:ext cx="13379983" cy="2543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24"/>
              </a:lnSpc>
            </a:pPr>
            <a:r>
              <a:rPr lang="en-US" sz="730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  <a:p>
            <a:pPr algn="ctr">
              <a:lnSpc>
                <a:spcPts val="10224"/>
              </a:lnSpc>
              <a:spcBef>
                <a:spcPct val="0"/>
              </a:spcBef>
            </a:pPr>
            <a:r>
              <a:rPr lang="en-US" sz="730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For your Attention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71023" y="7180364"/>
            <a:ext cx="3976985" cy="165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 i="1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EVERY DROP </a:t>
            </a:r>
          </a:p>
          <a:p>
            <a:pPr algn="ctr">
              <a:lnSpc>
                <a:spcPts val="6720"/>
              </a:lnSpc>
            </a:pPr>
            <a:r>
              <a:rPr lang="en-US" sz="4800" b="1" i="1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COUNTS !!</a:t>
            </a:r>
          </a:p>
        </p:txBody>
      </p:sp>
      <p:sp>
        <p:nvSpPr>
          <p:cNvPr id="8" name="Freeform 8"/>
          <p:cNvSpPr/>
          <p:nvPr/>
        </p:nvSpPr>
        <p:spPr>
          <a:xfrm>
            <a:off x="16760637" y="1207257"/>
            <a:ext cx="1527363" cy="808962"/>
          </a:xfrm>
          <a:custGeom>
            <a:avLst/>
            <a:gdLst/>
            <a:ahLst/>
            <a:cxnLst/>
            <a:rect l="l" t="t" r="r" b="b"/>
            <a:pathLst>
              <a:path w="1527363" h="808962">
                <a:moveTo>
                  <a:pt x="0" y="0"/>
                </a:moveTo>
                <a:lnTo>
                  <a:pt x="1527363" y="0"/>
                </a:lnTo>
                <a:lnTo>
                  <a:pt x="1527363" y="808961"/>
                </a:lnTo>
                <a:lnTo>
                  <a:pt x="0" y="8089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6058" b="-123249"/>
            </a:stretch>
          </a:blipFill>
        </p:spPr>
      </p:sp>
      <p:sp>
        <p:nvSpPr>
          <p:cNvPr id="10" name="Freeform 15">
            <a:extLst>
              <a:ext uri="{FF2B5EF4-FFF2-40B4-BE49-F238E27FC236}">
                <a16:creationId xmlns:a16="http://schemas.microsoft.com/office/drawing/2014/main" id="{935F4717-7CCD-087C-CF01-2FFF9B7F0BD7}"/>
              </a:ext>
            </a:extLst>
          </p:cNvPr>
          <p:cNvSpPr/>
          <p:nvPr/>
        </p:nvSpPr>
        <p:spPr>
          <a:xfrm flipH="1">
            <a:off x="12612784" y="2998949"/>
            <a:ext cx="3617816" cy="3668551"/>
          </a:xfrm>
          <a:custGeom>
            <a:avLst/>
            <a:gdLst/>
            <a:ahLst/>
            <a:cxnLst/>
            <a:rect l="l" t="t" r="r" b="b"/>
            <a:pathLst>
              <a:path w="2857419" h="3342011">
                <a:moveTo>
                  <a:pt x="2857419" y="0"/>
                </a:moveTo>
                <a:lnTo>
                  <a:pt x="0" y="0"/>
                </a:lnTo>
                <a:lnTo>
                  <a:pt x="0" y="3342010"/>
                </a:lnTo>
                <a:lnTo>
                  <a:pt x="2857419" y="3342010"/>
                </a:lnTo>
                <a:lnTo>
                  <a:pt x="285741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3600" dirty="0">
              <a:latin typeface="Book Antiqua" panose="02040602050305030304" pitchFamily="18" charset="0"/>
            </a:endParaRPr>
          </a:p>
          <a:p>
            <a:pPr algn="ctr"/>
            <a:r>
              <a:rPr lang="en-IN" sz="3200" b="1" dirty="0">
                <a:latin typeface="Book Antiqua" panose="02040602050305030304" pitchFamily="18" charset="0"/>
              </a:rPr>
              <a:t>Scan the QR code to access our GitHub project repository…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541</Words>
  <Application>Microsoft Office PowerPoint</Application>
  <PresentationFormat>Custom</PresentationFormat>
  <Paragraphs>85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9" baseType="lpstr">
      <vt:lpstr>Boston Angel Bold</vt:lpstr>
      <vt:lpstr>League Spartan</vt:lpstr>
      <vt:lpstr>Canva Sans Bold</vt:lpstr>
      <vt:lpstr>Roca One Heavy</vt:lpstr>
      <vt:lpstr>DM Sans Bold Italics</vt:lpstr>
      <vt:lpstr>Canva Sans Bold Italics</vt:lpstr>
      <vt:lpstr>Proxima Nova Italics</vt:lpstr>
      <vt:lpstr>DM Sans Bold</vt:lpstr>
      <vt:lpstr>Calibri</vt:lpstr>
      <vt:lpstr>Roca One Bold</vt:lpstr>
      <vt:lpstr>Proxima Nova Bold</vt:lpstr>
      <vt:lpstr>Archivo Black</vt:lpstr>
      <vt:lpstr>Times New Roman MT Bold</vt:lpstr>
      <vt:lpstr>DM Sans</vt:lpstr>
      <vt:lpstr>Book Antiqua</vt:lpstr>
      <vt:lpstr>Proxima Nova</vt:lpstr>
      <vt:lpstr>Arial</vt:lpstr>
      <vt:lpstr>DM Sans Italics</vt:lpstr>
      <vt:lpstr>Roca One Bold Italics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Beige Iridescent Professional Modern Machine Learning and Automation Presentation</dc:title>
  <cp:lastModifiedBy>Isha Rasam</cp:lastModifiedBy>
  <cp:revision>3</cp:revision>
  <dcterms:created xsi:type="dcterms:W3CDTF">2006-08-16T00:00:00Z</dcterms:created>
  <dcterms:modified xsi:type="dcterms:W3CDTF">2026-09-27T14:51:00Z</dcterms:modified>
  <dc:identifier>DAHWTlXgyDo</dc:identifier>
</cp:coreProperties>
</file>